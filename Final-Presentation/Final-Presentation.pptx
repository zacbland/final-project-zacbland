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2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6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3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63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3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14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2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8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0BC11-3AF4-4EE3-A44D-29AAAA45B5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7FC0-F899-4ECA-8CCC-E5FEBC929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7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E1EB-61A0-3181-B5B4-2451915C2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37B97-1A4A-0416-D94D-FCAB51F590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the Nutrition5k Dataset | 3 Model Architecture Comparison</a:t>
            </a:r>
          </a:p>
          <a:p>
            <a:endParaRPr lang="en-US" dirty="0"/>
          </a:p>
          <a:p>
            <a:r>
              <a:rPr lang="en-US" dirty="0"/>
              <a:t>Zac Bland</a:t>
            </a:r>
          </a:p>
          <a:p>
            <a:r>
              <a:rPr lang="en-US" dirty="0"/>
              <a:t>Deep Learning | Spring 2026</a:t>
            </a:r>
          </a:p>
        </p:txBody>
      </p:sp>
    </p:spTree>
    <p:extLst>
      <p:ext uri="{BB962C8B-B14F-4D97-AF65-F5344CB8AC3E}">
        <p14:creationId xmlns:p14="http://schemas.microsoft.com/office/powerpoint/2010/main" val="208402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06CF-3018-192C-A7F3-CB5665B1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32C06-B35A-FBCC-E0D9-AA981CC58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26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This project tackles the problem of automated nutrition estimation from food images. </a:t>
            </a:r>
          </a:p>
          <a:p>
            <a:pPr marL="0" indent="0">
              <a:buNone/>
            </a:pPr>
            <a:r>
              <a:rPr lang="en-US" sz="2200" dirty="0"/>
              <a:t>Given a single overhead photograph of a prepared dish, the model predicts five nutritional values — calories, mass, fat, carbohydrates, and protein.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38140-B22C-BAA6-57D6-62A85405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703" y="365125"/>
            <a:ext cx="3603217" cy="36032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B7E64D-DCC3-3596-62E8-4B613B696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60" y="4351377"/>
            <a:ext cx="10452039" cy="19605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FFA09E-641C-909A-EB78-B1DB80819E7E}"/>
              </a:ext>
            </a:extLst>
          </p:cNvPr>
          <p:cNvSpPr txBox="1"/>
          <p:nvPr/>
        </p:nvSpPr>
        <p:spPr>
          <a:xfrm>
            <a:off x="6794793" y="3968342"/>
            <a:ext cx="455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https://github.com/google-research-datasets/Nutrition5k</a:t>
            </a:r>
          </a:p>
        </p:txBody>
      </p:sp>
    </p:spTree>
    <p:extLst>
      <p:ext uri="{BB962C8B-B14F-4D97-AF65-F5344CB8AC3E}">
        <p14:creationId xmlns:p14="http://schemas.microsoft.com/office/powerpoint/2010/main" val="177677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8D59-0226-5738-89FF-A181C08D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849"/>
            <a:ext cx="10515600" cy="1325563"/>
          </a:xfrm>
        </p:spPr>
        <p:txBody>
          <a:bodyPr/>
          <a:lstStyle/>
          <a:p>
            <a:r>
              <a:rPr lang="en-US" dirty="0"/>
              <a:t>Dataset: Nutrition5k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88A0-D9F2-DF10-6BCD-07BB0032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5,006 unique dishes — each assembled in a lab with known ground-truth weights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Overhead RGB images  +  4× side-angle video streams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~3,500 dishes have overhead images (subset used here)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Targets (continuous regression):  Calories · Mass · Fat · Carbs · Protein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Split used in this project: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	Train: 4,058 dishes       Test: 708 dishes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Label normalization applied per-target (zero mean, unit variance) during training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Augmentation: random horizontal flip + random crop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F8112-1293-CDC8-79AA-529E1217FB88}"/>
              </a:ext>
            </a:extLst>
          </p:cNvPr>
          <p:cNvSpPr txBox="1"/>
          <p:nvPr/>
        </p:nvSpPr>
        <p:spPr>
          <a:xfrm>
            <a:off x="838200" y="1179422"/>
            <a:ext cx="455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https://github.com/google-research-datasets/Nutrition5k</a:t>
            </a:r>
          </a:p>
        </p:txBody>
      </p:sp>
    </p:spTree>
    <p:extLst>
      <p:ext uri="{BB962C8B-B14F-4D97-AF65-F5344CB8AC3E}">
        <p14:creationId xmlns:p14="http://schemas.microsoft.com/office/powerpoint/2010/main" val="213391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8BAC-5024-F706-CF0E-E8F0B81E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Approach: Shared Backbone + Task 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037D-405A-A160-3B6B-782CD0CCC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Backbone: InceptionV3 pretrained on ImageNet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     — Paper used InceptionV2 + JFT-300M (not publicly available)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Shared representation: 2048-dim feature vector from backbone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Multi-task regression: 5 independent (or conditioned) output heads</a:t>
            </a:r>
          </a:p>
          <a:p>
            <a:pPr>
              <a:spcAft>
                <a:spcPts val="400"/>
              </a:spcAft>
            </a:pPr>
            <a:endParaRPr lang="en-US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Loss:       L1 (Mean Absolute Error) — robust to outliers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Optimizer:  </a:t>
            </a:r>
            <a:r>
              <a:rPr lang="en-US" dirty="0" err="1">
                <a:solidFill>
                  <a:srgbClr val="262626"/>
                </a:solidFill>
                <a:latin typeface="Calibri"/>
              </a:rPr>
              <a:t>RMSProp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  (</a:t>
            </a:r>
            <a:r>
              <a:rPr lang="en-US" dirty="0" err="1">
                <a:solidFill>
                  <a:srgbClr val="262626"/>
                </a:solidFill>
                <a:latin typeface="Calibri"/>
              </a:rPr>
              <a:t>lr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 = 0.001, momentum = 0.9)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Schedule:   </a:t>
            </a:r>
            <a:r>
              <a:rPr lang="en-US" dirty="0" err="1">
                <a:solidFill>
                  <a:srgbClr val="262626"/>
                </a:solidFill>
                <a:latin typeface="Calibri"/>
              </a:rPr>
              <a:t>CosineAnnealingLR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  (T_max = 100 epochs)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62626"/>
                </a:solidFill>
                <a:latin typeface="Calibri"/>
              </a:rPr>
              <a:t>  Backbone frozen for first 5 epochs, then fine-tuned end-to-end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6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1C3C-AF25-1D85-2D4F-4F196A20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1: Baseline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8590-A205-5EFA-8413-F4FFF56E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Architecture: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InceptionV3 (2048) → Dropout(0.6) → FC(4096)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        → 5 × FC(4096)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FC(1)   [one head per target]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5 completely independent prediction heads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800" dirty="0"/>
              <a:t>Direct translation of the paper’s described architecture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Training: batch=32, 100 epochs, early stopping patience=15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750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0B75-0ABE-F797-9272-05543461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2: Mass-Focus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B225-DD04-3DE6-25EF-9D214AD3D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Hypothesis: Mass is the most important nutrient; All other nutrients scale with mass.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Architecture: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InceptionV3 (2048)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mass_head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predicted_mass</a:t>
            </a: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[2048 ||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predicted_mass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] (2049) → 4 × FC(4097)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FC(1)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                                  [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cal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, fat, carbs, protein conditioned on mass]</a:t>
            </a:r>
          </a:p>
          <a:p>
            <a:pPr marL="0" indent="0">
              <a:spcAft>
                <a:spcPts val="400"/>
              </a:spcAft>
              <a:buNone/>
            </a:pP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Task weights: TASK_WEIGHTS = [1, 3, 1, 1, 1]  (mass weighted 3×)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Extra loss term encourages accurate mass prediction before downstream heads</a:t>
            </a:r>
          </a:p>
        </p:txBody>
      </p:sp>
    </p:spTree>
    <p:extLst>
      <p:ext uri="{BB962C8B-B14F-4D97-AF65-F5344CB8AC3E}">
        <p14:creationId xmlns:p14="http://schemas.microsoft.com/office/powerpoint/2010/main" val="332425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AFB1-5D5A-BF00-6CB4-4392CE7B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3: Mixture of Experts (</a:t>
            </a:r>
            <a:r>
              <a:rPr lang="en-US" dirty="0" err="1"/>
              <a:t>MoE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4D71-4C97-7161-D6F9-1B3D97289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Architecture: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InceptionV3 (2048) → Gate Network (2048 → 4 logits,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softmax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4 Expert Networks: each FC(2048)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FC(2048)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FC(2048)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     Weighted sum of expert outputs → 5 Task Heads: FC(2048→1024) →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ReLU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→ FC(1)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Gating encourages specialization: different experts handle different dish types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Soft routing – all experts run, weighted by gate score</a:t>
            </a:r>
          </a:p>
        </p:txBody>
      </p:sp>
    </p:spTree>
    <p:extLst>
      <p:ext uri="{BB962C8B-B14F-4D97-AF65-F5344CB8AC3E}">
        <p14:creationId xmlns:p14="http://schemas.microsoft.com/office/powerpoint/2010/main" val="104065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736A-8E73-5833-6303-3628CDC8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Details (All Models)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F71FC-EDFB-4AC8-C940-1A2751EE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575"/>
            <a:ext cx="51435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Common hyperparameters: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Batch size: 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Max epochs: 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Learning rate: 0.001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Dropout: 0.6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Backbone freeze: first 5 epochs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Early stopping: patience = 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Optimizer: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RMSProp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 (momentum=0.9)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Scheduler: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CosineAnnealingLR</a:t>
            </a: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Loss: L1 (MAE)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2A806E-D5E6-7F5C-04DF-5660306F6A96}"/>
              </a:ext>
            </a:extLst>
          </p:cNvPr>
          <p:cNvSpPr txBox="1">
            <a:spLocks/>
          </p:cNvSpPr>
          <p:nvPr/>
        </p:nvSpPr>
        <p:spPr>
          <a:xfrm>
            <a:off x="6292850" y="1806575"/>
            <a:ext cx="5143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Label normalization: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Mean &amp; std computed on training set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Applied per target independently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Predictions de-normalized for evaluation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Data augmentation: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RandomHorizontalFlip</a:t>
            </a:r>
            <a:endParaRPr lang="en-US" sz="1800" dirty="0">
              <a:solidFill>
                <a:srgbClr val="262626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</a:t>
            </a:r>
            <a:r>
              <a:rPr lang="en-US" sz="1800" dirty="0" err="1">
                <a:solidFill>
                  <a:srgbClr val="262626"/>
                </a:solidFill>
                <a:latin typeface="Calibri"/>
              </a:rPr>
              <a:t>RandomResizedCrop</a:t>
            </a:r>
            <a:r>
              <a:rPr lang="en-US" sz="1800" dirty="0">
                <a:solidFill>
                  <a:srgbClr val="262626"/>
                </a:solidFill>
                <a:latin typeface="Calibri"/>
              </a:rPr>
              <a:t>(299)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  Normalize (ImageNet stats)</a:t>
            </a:r>
          </a:p>
        </p:txBody>
      </p:sp>
    </p:spTree>
    <p:extLst>
      <p:ext uri="{BB962C8B-B14F-4D97-AF65-F5344CB8AC3E}">
        <p14:creationId xmlns:p14="http://schemas.microsoft.com/office/powerpoint/2010/main" val="216615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C734-01B5-FC8E-2B7C-8FA99FC6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MAE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AC725-19A7-5150-D620-9AEC6E964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omparison_mae_bar.png">
            <a:extLst>
              <a:ext uri="{FF2B5EF4-FFF2-40B4-BE49-F238E27FC236}">
                <a16:creationId xmlns:a16="http://schemas.microsoft.com/office/drawing/2014/main" id="{A312B3B1-2F62-473C-B317-BBEC80B64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2354580"/>
            <a:ext cx="5577840" cy="2788920"/>
          </a:xfrm>
          <a:prstGeom prst="rect">
            <a:avLst/>
          </a:prstGeom>
        </p:spPr>
      </p:pic>
      <p:pic>
        <p:nvPicPr>
          <p:cNvPr id="5" name="Picture 4" descr="comparison_mae_pct_bar.png">
            <a:extLst>
              <a:ext uri="{FF2B5EF4-FFF2-40B4-BE49-F238E27FC236}">
                <a16:creationId xmlns:a16="http://schemas.microsoft.com/office/drawing/2014/main" id="{5527788F-B689-F00F-1002-DEB1349ED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2354580"/>
            <a:ext cx="5577840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5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DCEC-74EA-C8C6-6718-FDA9C554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Training Curves</a:t>
            </a:r>
          </a:p>
        </p:txBody>
      </p:sp>
      <p:pic>
        <p:nvPicPr>
          <p:cNvPr id="4" name="Picture 3" descr="comparison_training_curves.png">
            <a:extLst>
              <a:ext uri="{FF2B5EF4-FFF2-40B4-BE49-F238E27FC236}">
                <a16:creationId xmlns:a16="http://schemas.microsoft.com/office/drawing/2014/main" id="{C1F3FF6A-1FC3-7D37-236B-77EB2550F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65" y="1389401"/>
            <a:ext cx="8995669" cy="510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9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C9B4-1229-01E1-AD58-66375B5E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Improvement Heatmap vs </a:t>
            </a:r>
            <a:r>
              <a:rPr lang="en-US" dirty="0" err="1"/>
              <a:t>MoE</a:t>
            </a:r>
            <a:endParaRPr lang="en-US" dirty="0"/>
          </a:p>
        </p:txBody>
      </p:sp>
      <p:pic>
        <p:nvPicPr>
          <p:cNvPr id="4" name="Content Placeholder 3" descr="comparison_improvement_heatmap.png">
            <a:extLst>
              <a:ext uri="{FF2B5EF4-FFF2-40B4-BE49-F238E27FC236}">
                <a16:creationId xmlns:a16="http://schemas.microsoft.com/office/drawing/2014/main" id="{11F5CCC5-1D79-8390-583C-FB2B143A6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378" y="2355510"/>
            <a:ext cx="9143244" cy="32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2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70AC-50B7-A764-ADED-4C014870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BE2C-C094-7FFE-6830-DEA1F6DA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/>
              <a:t>Baseline CNN achieved the best MAE% (Simple multi-head regression is hard to beat)</a:t>
            </a:r>
          </a:p>
          <a:p>
            <a:pPr>
              <a:buFontTx/>
              <a:buChar char="-"/>
            </a:pPr>
            <a:r>
              <a:rPr lang="en-US" sz="2000" dirty="0"/>
              <a:t>Weight Focus added complexity without the consistent gain</a:t>
            </a:r>
          </a:p>
          <a:p>
            <a:pPr lvl="1">
              <a:buFontTx/>
              <a:buChar char="-"/>
            </a:pPr>
            <a:r>
              <a:rPr lang="en-US" sz="2000" dirty="0"/>
              <a:t>Mass Conditioning didn’t reliably help other targets as much as expected</a:t>
            </a:r>
          </a:p>
          <a:p>
            <a:pPr>
              <a:buFontTx/>
              <a:buChar char="-"/>
            </a:pPr>
            <a:r>
              <a:rPr lang="en-US" sz="2000" dirty="0" err="1"/>
              <a:t>MoE</a:t>
            </a:r>
            <a:r>
              <a:rPr lang="en-US" sz="2000" dirty="0"/>
              <a:t> halves parameter count (65.9M vs 130.9M) with slight MAE% error.</a:t>
            </a:r>
          </a:p>
          <a:p>
            <a:pPr lvl="1">
              <a:buFontTx/>
              <a:buChar char="-"/>
            </a:pPr>
            <a:r>
              <a:rPr lang="en-US" sz="2000" dirty="0"/>
              <a:t>Promising efficiency trade-off for deployment.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What else to explore:</a:t>
            </a:r>
          </a:p>
          <a:p>
            <a:pPr>
              <a:buFontTx/>
              <a:buChar char="-"/>
            </a:pPr>
            <a:r>
              <a:rPr lang="en-US" sz="2000" dirty="0"/>
              <a:t>More aggressive data augmentation.</a:t>
            </a:r>
          </a:p>
          <a:p>
            <a:pPr>
              <a:buFontTx/>
              <a:buChar char="-"/>
            </a:pPr>
            <a:r>
              <a:rPr lang="en-US" sz="2000" dirty="0"/>
              <a:t>Larger / newer backbone (EfficientNet-V2, etc.)</a:t>
            </a:r>
          </a:p>
          <a:p>
            <a:pPr>
              <a:buFontTx/>
              <a:buChar char="-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471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8C4C-9BC2-92CD-4AAE-4147C7F0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171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2489</TotalTime>
  <Words>730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Final Project Deep Learning</vt:lpstr>
      <vt:lpstr>Project Definition</vt:lpstr>
      <vt:lpstr>Dataset: Nutrition5k</vt:lpstr>
      <vt:lpstr>Approach: Shared Backbone + Task Heads</vt:lpstr>
      <vt:lpstr>Model 1: Baseline CNN</vt:lpstr>
      <vt:lpstr>Model 2: Mass-Focus</vt:lpstr>
      <vt:lpstr>Model 3: Mixture of Experts (MoE)</vt:lpstr>
      <vt:lpstr>Training Details (All Models)</vt:lpstr>
      <vt:lpstr>Results: MAE Comparison</vt:lpstr>
      <vt:lpstr>Results: Training Curves</vt:lpstr>
      <vt:lpstr>Results: Improvement Heatmap vs MoE</vt:lpstr>
      <vt:lpstr>Conclusions</vt:lpstr>
      <vt:lpstr>Questions?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Bland, Zac</dc:creator>
  <cp:lastModifiedBy>Bland, Zac</cp:lastModifiedBy>
  <cp:revision>4</cp:revision>
  <dcterms:created xsi:type="dcterms:W3CDTF">2026-04-22T23:46:25Z</dcterms:created>
  <dcterms:modified xsi:type="dcterms:W3CDTF">2026-04-24T17:16:22Z</dcterms:modified>
</cp:coreProperties>
</file>